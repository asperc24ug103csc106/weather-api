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7.png"/><Relationship Id="rId7" Type="http://schemas.openxmlformats.org/officeDocument/2006/relationships/image" Target="../media/image2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24.png"/><Relationship Id="rId10" Type="http://schemas.openxmlformats.org/officeDocument/2006/relationships/image" Target="../media/image39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2925" y="4943326"/>
            <a:ext cx="1110615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18475" y="504825"/>
            <a:ext cx="3130599" cy="3048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6" y="2253108"/>
            <a:ext cx="1905000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81050" y="5505301"/>
            <a:ext cx="2318295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51745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29683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07622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485560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75570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53508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31447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609385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466850" y="5671988"/>
            <a:ext cx="893861" cy="17145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428625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10258"/>
            <a:ext cx="133350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552450"/>
            <a:ext cx="26670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5152876"/>
            <a:ext cx="16192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" y="5657701"/>
            <a:ext cx="419100" cy="4191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" y="5781526"/>
            <a:ext cx="19050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2925" y="2634108"/>
            <a:ext cx="11649075" cy="5037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sz="3450" b="1" i="0" u="none">
                <a:solidFill>
                  <a:srgbClr val="0F172A"/>
                </a:solidFill>
                <a:latin typeface="Segoe UI"/>
              </a:rPr>
              <a:t>AI WEATHERWISE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925" y="3252192"/>
            <a:ext cx="10096500" cy="488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334155"/>
                </a:solidFill>
                <a:latin typeface="Segoe UI"/>
              </a:rPr>
              <a:t>An Intelligent Microservices Backend for Live Meteorological Data Aggregation, JWT Security Guarding, and Context-Aware Generative AI Recommendations</a:t>
            </a:r>
            <a:r>
              <a:rPr lang="en-IN" sz="1350" b="0" i="0" u="none" dirty="0">
                <a:solidFill>
                  <a:srgbClr val="334155"/>
                </a:solidFill>
                <a:latin typeface="Segoe UI"/>
              </a:rPr>
              <a:t>. </a:t>
            </a:r>
            <a:endParaRPr sz="1350" b="0" i="0" u="none" dirty="0">
              <a:solidFill>
                <a:srgbClr val="334155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0400" y="590550"/>
            <a:ext cx="2646558" cy="144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37" b="1" dirty="0">
                <a:solidFill>
                  <a:srgbClr val="0284C7"/>
                </a:solidFill>
                <a:latin typeface="Segoe UI"/>
              </a:rPr>
              <a:t>NAAN MUDHALVAN</a:t>
            </a:r>
            <a:r>
              <a:rPr sz="937" b="1" i="0" u="none" dirty="0">
                <a:solidFill>
                  <a:srgbClr val="0284C7"/>
                </a:solidFill>
                <a:latin typeface="Segoe UI"/>
              </a:rPr>
              <a:t> PROJECT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50" y="2310258"/>
            <a:ext cx="1394613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00" b="1" dirty="0">
                <a:solidFill>
                  <a:srgbClr val="0369A1"/>
                </a:solidFill>
                <a:latin typeface="Segoe UI"/>
              </a:rPr>
              <a:t>TN SKILLS SMARTBRIDGE</a:t>
            </a:r>
            <a:endParaRPr sz="900" b="1" i="0" u="none" dirty="0">
              <a:solidFill>
                <a:srgbClr val="0369A1"/>
              </a:solidFill>
              <a:latin typeface="Segoe U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1050" y="5143351"/>
            <a:ext cx="3017304" cy="142875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PROJECT DEVELOPMENT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5297" y="5148113"/>
            <a:ext cx="235706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64748B"/>
                </a:solidFill>
                <a:latin typeface="Segoe UI"/>
              </a:rPr>
              <a:t>Department of Computer Science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525" y="471487"/>
            <a:ext cx="788900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BHARATHIYAR ARTS AND SCIENCE COLLEGE FOR WOMEN (AUTONOMOUS)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525" y="690562"/>
            <a:ext cx="78890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Segoe UI"/>
              </a:rPr>
              <a:t>Deviyakurichi • Department of Computer Science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2695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3720" y="5733901"/>
            <a:ext cx="9111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10633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1658" y="5733901"/>
            <a:ext cx="8509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 dirty="0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8572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69597" y="5733901"/>
            <a:ext cx="8509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6510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7535" y="5733901"/>
            <a:ext cx="10977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43050" y="5691038"/>
            <a:ext cx="83671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0284C7"/>
                </a:solidFill>
                <a:latin typeface="Segoe UI"/>
              </a:rPr>
              <a:t>TEAM LEADER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6850" y="5881538"/>
            <a:ext cx="801501" cy="1962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275" b="1" dirty="0">
                <a:solidFill>
                  <a:srgbClr val="0F172A"/>
                </a:solidFill>
                <a:latin typeface="Segoe UI"/>
              </a:rPr>
              <a:t>SHALINI V</a:t>
            </a:r>
            <a:endParaRPr sz="1275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813720" y="5848201"/>
            <a:ext cx="1540486" cy="167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87" b="1" i="0" u="none" dirty="0">
                <a:solidFill>
                  <a:srgbClr val="0F172A"/>
                </a:solidFill>
                <a:latin typeface="Segoe UI"/>
              </a:rPr>
              <a:t>SENTHAMIZH ARASI M</a:t>
            </a:r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891658" y="5848201"/>
            <a:ext cx="1301638" cy="167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87" b="1" i="0" u="none" dirty="0">
                <a:solidFill>
                  <a:srgbClr val="0F172A"/>
                </a:solidFill>
                <a:latin typeface="Segoe UI"/>
              </a:rPr>
              <a:t>SHARMILAPOOJA P</a:t>
            </a:r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969597" y="5848201"/>
            <a:ext cx="637995" cy="167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87" b="1" i="0" u="none" dirty="0">
                <a:solidFill>
                  <a:srgbClr val="0F172A"/>
                </a:solidFill>
                <a:latin typeface="Segoe UI"/>
              </a:rPr>
              <a:t>SHEELA A</a:t>
            </a:r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047535" y="5848201"/>
            <a:ext cx="843180" cy="167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87" b="1" i="0" u="none" dirty="0">
                <a:solidFill>
                  <a:srgbClr val="0F172A"/>
                </a:solidFill>
                <a:latin typeface="Segoe UI"/>
              </a:rPr>
              <a:t>SINDHUJA G</a:t>
            </a:r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6048375"/>
            <a:ext cx="11258550" cy="457200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800600"/>
          </a:xfrm>
          <a:prstGeom prst="roundRect">
            <a:avLst>
              <a:gd name="adj" fmla="val 23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800600"/>
          </a:xfrm>
          <a:prstGeom prst="roundRect">
            <a:avLst>
              <a:gd name="adj" fmla="val 23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04850" y="5419725"/>
            <a:ext cx="5057775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29375" y="5219700"/>
            <a:ext cx="5057775" cy="47625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825900" y="6172200"/>
            <a:ext cx="1561058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34608" y="6172200"/>
            <a:ext cx="1400621" cy="209550"/>
          </a:xfrm>
          <a:prstGeom prst="roundRect">
            <a:avLst>
              <a:gd name="adj" fmla="val 1818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82880" y="6172200"/>
            <a:ext cx="1531887" cy="209550"/>
          </a:xfrm>
          <a:prstGeom prst="roundRect">
            <a:avLst>
              <a:gd name="adj" fmla="val 1818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62418" y="6172200"/>
            <a:ext cx="1462831" cy="209550"/>
          </a:xfrm>
          <a:prstGeom prst="roundRect">
            <a:avLst>
              <a:gd name="adj" fmla="val 18181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4850" y="2655093"/>
            <a:ext cx="5057775" cy="986135"/>
          </a:xfrm>
          <a:prstGeom prst="roundRect">
            <a:avLst>
              <a:gd name="adj" fmla="val 772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850" y="5419725"/>
            <a:ext cx="50577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195191" y="5524500"/>
            <a:ext cx="870346" cy="17145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122687" y="5524500"/>
            <a:ext cx="666154" cy="17145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45992" y="5524500"/>
            <a:ext cx="916632" cy="171450"/>
          </a:xfrm>
          <a:prstGeom prst="roundRect">
            <a:avLst>
              <a:gd name="adj" fmla="val 22222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158" y="6224587"/>
            <a:ext cx="95250" cy="1047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430" y="6224587"/>
            <a:ext cx="95250" cy="1047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0968" y="6224587"/>
            <a:ext cx="95250" cy="1047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150" y="6219825"/>
            <a:ext cx="142875" cy="114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858" y="6219825"/>
            <a:ext cx="85725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8130" y="6219825"/>
            <a:ext cx="142875" cy="1143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7668" y="6219825"/>
            <a:ext cx="114300" cy="1143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1295400"/>
            <a:ext cx="304800" cy="3048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1295400"/>
            <a:ext cx="304800" cy="3048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0" y="5334000"/>
            <a:ext cx="123825" cy="119062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862" y="1376362"/>
            <a:ext cx="104775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0337" y="1376362"/>
            <a:ext cx="14287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1740693"/>
            <a:ext cx="133350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2199084"/>
            <a:ext cx="133350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2657475"/>
            <a:ext cx="133350" cy="1333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3115865"/>
            <a:ext cx="133350" cy="1333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02 / 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750" y="6210300"/>
            <a:ext cx="16112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WORKFLOW PIPELINE: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725" y="352425"/>
            <a:ext cx="494555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PROJECT FOUNDATION &amp; OVERVIEW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725" y="504825"/>
            <a:ext cx="5192836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Abstract &amp; Project Introduction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21150" y="6210300"/>
            <a:ext cx="1465808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1. JWT Authentication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858" y="6210300"/>
            <a:ext cx="130537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Segoe UI"/>
              </a:rPr>
              <a:t>2. Manage Favorites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8130" y="6210300"/>
            <a:ext cx="143663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Segoe UI"/>
              </a:rPr>
              <a:t>3. Weather Extraction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57668" y="6210300"/>
            <a:ext cx="136758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B21A8"/>
                </a:solidFill>
                <a:latin typeface="Segoe UI"/>
              </a:rPr>
              <a:t>4. Gemini AI Insights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850" y="1714500"/>
            <a:ext cx="5153025" cy="826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1" i="0" u="none">
                <a:solidFill>
                  <a:srgbClr val="334155"/>
                </a:solidFill>
                <a:latin typeface="Segoe UI"/>
              </a:rPr>
              <a:t>AI WeatherWise API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 is an enterprise-grade RESTful web service engineered using </a:t>
            </a:r>
            <a:r>
              <a:rPr sz="1050" b="1" i="0" u="none">
                <a:solidFill>
                  <a:srgbClr val="334155"/>
                </a:solidFill>
                <a:latin typeface="Segoe UI"/>
              </a:rPr>
              <a:t>Node.js, Express.js, and MongoDB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. It bridges live meteorological monitoring with </a:t>
            </a:r>
            <a:r>
              <a:rPr sz="1050" b="1" i="0" u="none">
                <a:solidFill>
                  <a:srgbClr val="334155"/>
                </a:solidFill>
                <a:latin typeface="Segoe UI"/>
              </a:rPr>
              <a:t>Google Gemini Generative AI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 to convert numeric environmental data into intelligent recommendations.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850" y="5543550"/>
            <a:ext cx="152976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Primary Technologies: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72250" y="5324475"/>
            <a:ext cx="4867275" cy="2667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065F46"/>
                </a:solidFill>
                <a:latin typeface="Segoe UI"/>
              </a:rPr>
              <a:t>Primary Objective: Deliver a zero-downtime, secure, and AI-enriched backend API service.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4900" y="1347787"/>
            <a:ext cx="201783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egoe UI"/>
              </a:rPr>
              <a:t>Executive Abstract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675" y="2778918"/>
            <a:ext cx="601265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Core Problem &amp; Solution Matrix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675" y="2978943"/>
            <a:ext cx="4905375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Traditional portals provide isolated, numeric metrics without actionable guidance. WeatherWise resolves this via secure user favorites sync, live weather aggregation, and automated LLM activity advisories.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71391" y="5543550"/>
            <a:ext cx="81319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Segoe UI"/>
              </a:rPr>
              <a:t>Node/Express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98887" y="5543550"/>
            <a:ext cx="60900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D4ED8"/>
                </a:solidFill>
                <a:latin typeface="Segoe UI"/>
              </a:rPr>
              <a:t>MongoDB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22192" y="5543550"/>
            <a:ext cx="859482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E22CE"/>
                </a:solidFill>
                <a:latin typeface="Segoe UI"/>
              </a:rPr>
              <a:t>Google Gemini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29425" y="1347787"/>
            <a:ext cx="233857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egoe UI"/>
              </a:rPr>
              <a:t>Project Scope &amp; Need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57975" y="1714500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Real-Time Weather Aggregation: Query live temperature, humidity, wind velocity, and condition states via OpenWeatherMap API integration.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57975" y="2172890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Stateful Location Persistence: Allow registered users to maintain multi-city favorite lists with strict compound uniqueness in MongoDB.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57975" y="2631281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Generative AI Recommendations: Leverage prompt engineering with Google Gemini for contextual clothing, travel, and hydration advisories.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57975" y="3089671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Resilient Offline Architecture: Incorporate mock generators to maintain 100% testability even without active third-party API credentials.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5934075"/>
            <a:ext cx="11258550" cy="5715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5295900"/>
            <a:ext cx="5095875" cy="285750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10325" y="5295900"/>
            <a:ext cx="5095875" cy="28575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69618" y="1352550"/>
            <a:ext cx="1212056" cy="171450"/>
          </a:xfrm>
          <a:prstGeom prst="roundRect">
            <a:avLst>
              <a:gd name="adj" fmla="val 22222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69545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409825"/>
            <a:ext cx="5095875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981325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61649" y="1352550"/>
            <a:ext cx="1644550" cy="171450"/>
          </a:xfrm>
          <a:prstGeom prst="roundRect">
            <a:avLst>
              <a:gd name="adj" fmla="val 22222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10325" y="169545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10325" y="2409825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10325" y="312420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23050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16954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1695450"/>
            <a:ext cx="38100" cy="6191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72150" y="1695450"/>
            <a:ext cx="9525" cy="6191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8765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24098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2409825"/>
            <a:ext cx="38100" cy="4762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72150" y="2409825"/>
            <a:ext cx="9525" cy="476250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35909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29813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2981325"/>
            <a:ext cx="38100" cy="6191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72150" y="2981325"/>
            <a:ext cx="9525" cy="6191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10325" y="230505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10325" y="169545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10325" y="1695450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1496675" y="1695450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10325" y="3019425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10325" y="2409825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10325" y="2409825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496675" y="2409825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10325" y="37338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10325" y="31242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10325" y="3124200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496675" y="3124200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6143625"/>
            <a:ext cx="152400" cy="1524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6143625"/>
            <a:ext cx="152400" cy="1524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2050" y="6143625"/>
            <a:ext cx="152400" cy="1524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95400"/>
            <a:ext cx="285750" cy="2857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1295400"/>
            <a:ext cx="285750" cy="2857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371600"/>
            <a:ext cx="133350" cy="1333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1371600"/>
            <a:ext cx="133350" cy="13335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03 / 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146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EA580C"/>
                </a:solidFill>
                <a:latin typeface="Segoe UI"/>
              </a:rPr>
              <a:t>1. Existing 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8371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D97706"/>
                </a:solidFill>
                <a:latin typeface="Segoe UI"/>
              </a:rPr>
              <a:t>2. Problems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596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284C7"/>
                </a:solidFill>
                <a:latin typeface="Segoe UI"/>
              </a:rPr>
              <a:t>3. Proposed System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0821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6A34A"/>
                </a:solidFill>
                <a:latin typeface="Segoe UI"/>
              </a:rPr>
              <a:t>4. Transformed Benefits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725" y="352425"/>
            <a:ext cx="604018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SYSTEM COMPARATIVE ANALYSIS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725" y="504825"/>
            <a:ext cx="634219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Existing System vs. Proposed System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146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Static Numeric 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8371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No Context &amp; High Fragility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4596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Express + Gemini MVC API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0821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Actionable AI &amp; Zero Downtime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0100" y="5372100"/>
            <a:ext cx="608409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A3412"/>
                </a:solidFill>
                <a:latin typeface="Segoe UI"/>
              </a:rPr>
              <a:t>× Result: Higher cognitive load, lack of personalization, brittle execution.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24625" y="5372100"/>
            <a:ext cx="56673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47857"/>
                </a:solidFill>
                <a:latin typeface="Segoe UI"/>
              </a:rPr>
              <a:t>✓ Result: 100% reliable uptime, automated smart insights, personalized persistence.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45818" y="1381125"/>
            <a:ext cx="1154906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A3412"/>
                </a:solidFill>
                <a:latin typeface="Segoe UI"/>
              </a:rPr>
              <a:t>LEGACY APPROACH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37849" y="1381125"/>
            <a:ext cx="15874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65F46"/>
                </a:solidFill>
                <a:latin typeface="Segoe UI"/>
              </a:rPr>
              <a:t>AI WEATHERWISE SOLUTION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7750" y="1338262"/>
            <a:ext cx="173849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A3412"/>
                </a:solidFill>
                <a:latin typeface="Segoe UI"/>
              </a:rPr>
              <a:t>Existing System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8200" y="1781175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Isolated Raw Data Only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8200" y="194310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Presents raw numbers (e.g., 34°C, 70% humidity) with zero contextual advice or lifestyle guidance.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8200" y="2495550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No User State Synchronization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8200" y="2657475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Absence of persistent databases forces repeated manual city re-entry across sessions.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8200" y="3067050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Single Point of Failure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8200" y="3228975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Strict dependence on remote keys causes immediate service termination if rate limits occur.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72275" y="1338262"/>
            <a:ext cx="19010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65F46"/>
                </a:solidFill>
                <a:latin typeface="Segoe UI"/>
              </a:rPr>
              <a:t>Proposed System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62725" y="1781175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Generative AI Summaries &amp; Tips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62725" y="194310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Google Gemini dynamically translates raw temperature and metrics into natural clothing and travel tips.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62725" y="2495550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Secure JWT &amp; MongoDB CRUD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62725" y="2657475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Bcrypt salted hashing with JWT bearer tokens enables private multi-city tracking across client apps.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62725" y="3209925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Deterministic Mock Fallback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62725" y="337185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Built-in mock generators activate automatically if remote API keys expire, guaranteeing continuous uptime.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6067425"/>
            <a:ext cx="11258550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6047482" cy="4819650"/>
          </a:xfrm>
          <a:prstGeom prst="roundRect">
            <a:avLst>
              <a:gd name="adj" fmla="val 237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04707" y="1095375"/>
            <a:ext cx="5020567" cy="4819650"/>
          </a:xfrm>
          <a:prstGeom prst="roundRect">
            <a:avLst>
              <a:gd name="adj" fmla="val 237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904732" y="5410200"/>
            <a:ext cx="4620517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824858" y="6172200"/>
            <a:ext cx="1187648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0157" y="6172200"/>
            <a:ext cx="1505396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13203" y="6172200"/>
            <a:ext cx="1564183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25037" y="6172200"/>
            <a:ext cx="1700212" cy="228600"/>
          </a:xfrm>
          <a:prstGeom prst="roundRect">
            <a:avLst>
              <a:gd name="adj" fmla="val 1666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04732" y="1695450"/>
            <a:ext cx="4620517" cy="720030"/>
          </a:xfrm>
          <a:prstGeom prst="roundRect">
            <a:avLst>
              <a:gd name="adj" fmla="val 1058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04732" y="2510730"/>
            <a:ext cx="4620517" cy="880020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6750" y="2214562"/>
            <a:ext cx="5647432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66750" y="2967037"/>
            <a:ext cx="5647432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6750" y="3709987"/>
            <a:ext cx="5647432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689282" y="1357312"/>
            <a:ext cx="835967" cy="161925"/>
          </a:xfrm>
          <a:prstGeom prst="roundRect">
            <a:avLst>
              <a:gd name="adj" fmla="val 23529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340399" y="2319337"/>
            <a:ext cx="849957" cy="142875"/>
          </a:xfrm>
          <a:prstGeom prst="roundRect">
            <a:avLst>
              <a:gd name="adj" fmla="val 26666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95130" y="3071812"/>
            <a:ext cx="1095226" cy="142875"/>
          </a:xfrm>
          <a:prstGeom prst="roundRect">
            <a:avLst>
              <a:gd name="adj" fmla="val 2666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94449" y="3814762"/>
            <a:ext cx="595907" cy="142875"/>
          </a:xfrm>
          <a:prstGeom prst="roundRect">
            <a:avLst>
              <a:gd name="adj" fmla="val 2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707" y="6234112"/>
            <a:ext cx="95250" cy="1047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753" y="6234112"/>
            <a:ext cx="95250" cy="1047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3587" y="6234112"/>
            <a:ext cx="95250" cy="1047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1295400"/>
            <a:ext cx="285750" cy="2857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8557" y="5505450"/>
            <a:ext cx="104775" cy="1143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1371600"/>
            <a:ext cx="152400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4732" y="1295400"/>
            <a:ext cx="285750" cy="2857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1407" y="1371600"/>
            <a:ext cx="152400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2328862"/>
            <a:ext cx="123825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575" y="3081337"/>
            <a:ext cx="152400" cy="1238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575" y="3824287"/>
            <a:ext cx="123825" cy="12382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04 / 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750" y="6219825"/>
            <a:ext cx="1248816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CLIENT UI FLOW: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725" y="352425"/>
            <a:ext cx="646472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PRESENTATION &amp; CLIENT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725" y="504825"/>
            <a:ext cx="678795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Frontend Development &amp; Client Interface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20108" y="6210300"/>
            <a:ext cx="109239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Postman Client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407" y="6210300"/>
            <a:ext cx="14101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JSON Payload Dispatch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08453" y="6210300"/>
            <a:ext cx="146893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JWT Auto-Capture Script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0287" y="6210300"/>
            <a:ext cx="160496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65F46"/>
                </a:solidFill>
                <a:latin typeface="Segoe UI"/>
              </a:rPr>
              <a:t>Formatted JSON Visualized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6750" y="1695450"/>
            <a:ext cx="5742682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475569"/>
                </a:solidFill>
                <a:latin typeface="Segoe UI"/>
              </a:rPr>
              <a:t>As an industry-standard backend service, the project employs a </a:t>
            </a:r>
            <a:r>
              <a:rPr sz="1012" b="1" i="0" u="none">
                <a:solidFill>
                  <a:srgbClr val="475569"/>
                </a:solidFill>
                <a:latin typeface="Segoe UI"/>
              </a:rPr>
              <a:t>Headless API Architecture</a:t>
            </a:r>
            <a:r>
              <a:rPr sz="1012" b="0" i="0" u="none">
                <a:solidFill>
                  <a:srgbClr val="475569"/>
                </a:solidFill>
                <a:latin typeface="Segoe UI"/>
              </a:rPr>
              <a:t>. The primary visual client interfaces and consumers are: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8557" y="5495925"/>
            <a:ext cx="5163442" cy="133350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Postman collection verified with full suite of public and private route contracts.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" y="1343025"/>
            <a:ext cx="351176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Headless REST Client 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46432" y="1385887"/>
            <a:ext cx="81691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C2410C"/>
                </a:solidFill>
                <a:latin typeface="Segoe UI"/>
              </a:rPr>
              <a:t>STATUS 200 OK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7607" y="1990725"/>
            <a:ext cx="4430017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D97706"/>
                </a:solidFill>
                <a:latin typeface="Consolas"/>
              </a:rPr>
              <a:t>"success"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284C7"/>
                </a:solidFill>
                <a:latin typeface="Consolas"/>
              </a:rPr>
              <a:t>true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</a:t>
            </a:r>
            <a:r>
              <a:t>
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"token"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16A34A"/>
                </a:solidFill>
                <a:latin typeface="Consolas"/>
              </a:rPr>
              <a:t>"eyJhbGciOiJIUzI1NiIsInR5c..."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7607" y="2806005"/>
            <a:ext cx="4430017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D97706"/>
                </a:solidFill>
                <a:latin typeface="Consolas"/>
              </a:rPr>
              <a:t>"city"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F766E"/>
                </a:solidFill>
                <a:latin typeface="Consolas"/>
              </a:rPr>
              <a:t>"Bangalore"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 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"temp"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284C7"/>
                </a:solidFill>
                <a:latin typeface="Consolas"/>
              </a:rPr>
              <a:t>34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</a:t>
            </a:r>
            <a:r>
              <a:t>
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"recommendation"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16A34A"/>
                </a:solidFill>
                <a:latin typeface="Consolas"/>
              </a:rPr>
              <a:t>"Stay hydrated, and wear light cotton clothes."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575" y="2490787"/>
            <a:ext cx="549503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Structured interactive workspace with environment variables (</a:t>
            </a:r>
            <a:r>
              <a:rPr sz="937" b="0" i="0" u="none">
                <a:solidFill>
                  <a:srgbClr val="7E22CE"/>
                </a:solidFill>
                <a:latin typeface="Segoe UI"/>
              </a:rPr>
              <a:t>{{base_url}}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7E22CE"/>
                </a:solidFill>
                <a:latin typeface="Segoe UI"/>
              </a:rPr>
              <a:t>{{token}}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) and pre-saved request bodies.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575" y="3243262"/>
            <a:ext cx="54950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Automatic extraction of returned JWT token on registration/login, storing it dynamically into headers for instant seamless authorization.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575" y="3986212"/>
            <a:ext cx="54950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Full CORS enablement allows React, Angular, or Flutter mobile clients to connect without origin rejection.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6682" y="1343025"/>
            <a:ext cx="2594464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Verified UI Test Execution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7607" y="1800225"/>
            <a:ext cx="157199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Consolas"/>
              </a:rPr>
              <a:t>POST /api/auth/login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64862" y="1800225"/>
            <a:ext cx="110326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Consolas"/>
              </a:rPr>
              <a:t>200 OK (90ms)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7607" y="2615505"/>
            <a:ext cx="275090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Consolas"/>
              </a:rPr>
              <a:t>POST /api/ai/weather-recommendation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02056" y="2615505"/>
            <a:ext cx="116606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Consolas"/>
              </a:rPr>
              <a:t>200 OK (475ms)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575" y="2319337"/>
            <a:ext cx="2368041" cy="14287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B21A8"/>
                </a:solidFill>
                <a:latin typeface="Segoe UI"/>
              </a:rPr>
              <a:t>Postman Interactive Client UI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7549" y="2338387"/>
            <a:ext cx="83090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7E22CE"/>
                </a:solidFill>
                <a:latin typeface="Segoe UI"/>
              </a:rPr>
              <a:t>GUI INTERFACE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575" y="3071812"/>
            <a:ext cx="2460687" cy="14287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766E"/>
                </a:solidFill>
                <a:latin typeface="Segoe UI"/>
              </a:rPr>
              <a:t>Automated Test Script Engine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52280" y="3090862"/>
            <a:ext cx="1076176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0F766E"/>
                </a:solidFill>
                <a:latin typeface="Segoe UI"/>
              </a:rPr>
              <a:t>JAVASCRIPT ENGINE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575" y="3814762"/>
            <a:ext cx="2651559" cy="14287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Segoe UI"/>
              </a:rPr>
              <a:t>CORS Middleware (Cross-Origin)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51599" y="3833812"/>
            <a:ext cx="57685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E40AF"/>
                </a:solidFill>
                <a:latin typeface="Segoe UI"/>
              </a:rPr>
              <a:t>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5934075"/>
            <a:ext cx="11258550" cy="5715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5343525"/>
            <a:ext cx="50958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10325" y="5343525"/>
            <a:ext cx="50958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52389" y="6048375"/>
            <a:ext cx="1227832" cy="342900"/>
          </a:xfrm>
          <a:prstGeom prst="roundRect">
            <a:avLst>
              <a:gd name="adj" fmla="val 1111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18346" y="6038850"/>
            <a:ext cx="1297781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54253" y="6048375"/>
            <a:ext cx="1185564" cy="342900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77942" y="6048375"/>
            <a:ext cx="1662410" cy="34290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78478" y="6048375"/>
            <a:ext cx="1400770" cy="342900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17373" y="6048375"/>
            <a:ext cx="1126926" cy="342900"/>
          </a:xfrm>
          <a:prstGeom prst="roundRect">
            <a:avLst>
              <a:gd name="adj" fmla="val 11111"/>
            </a:avLst>
          </a:prstGeom>
          <a:solidFill>
            <a:srgbClr val="FA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5343525"/>
            <a:ext cx="50958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988891" y="5429250"/>
            <a:ext cx="1792783" cy="1524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10325" y="5343525"/>
            <a:ext cx="50958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059465" y="5429250"/>
            <a:ext cx="2446734" cy="1524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1676400"/>
            <a:ext cx="5095875" cy="590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2352675"/>
            <a:ext cx="509587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019425"/>
            <a:ext cx="5095875" cy="590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10325" y="1676400"/>
            <a:ext cx="5095875" cy="48577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10325" y="2247900"/>
            <a:ext cx="5095875" cy="48577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10325" y="2819400"/>
            <a:ext cx="509587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225742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1676400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1676400"/>
            <a:ext cx="28575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72150" y="1676400"/>
            <a:ext cx="9525" cy="590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292417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235267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5800" y="2352675"/>
            <a:ext cx="28575" cy="5810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72150" y="2352675"/>
            <a:ext cx="9525" cy="581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3600450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" y="301942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5800" y="3019425"/>
            <a:ext cx="28575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772150" y="3019425"/>
            <a:ext cx="9525" cy="590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10325" y="33909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10325" y="28194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10325" y="2819400"/>
            <a:ext cx="28575" cy="5810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496675" y="2819400"/>
            <a:ext cx="9525" cy="5810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830817" y="1766887"/>
            <a:ext cx="551557" cy="133350"/>
          </a:xfrm>
          <a:prstGeom prst="roundRect">
            <a:avLst>
              <a:gd name="adj" fmla="val 2142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830817" y="2338387"/>
            <a:ext cx="551557" cy="133350"/>
          </a:xfrm>
          <a:prstGeom prst="roundRect">
            <a:avLst>
              <a:gd name="adj" fmla="val 2142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421" y="6172200"/>
            <a:ext cx="85725" cy="952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328" y="6172200"/>
            <a:ext cx="85725" cy="952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017" y="6172200"/>
            <a:ext cx="85725" cy="952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553" y="6172200"/>
            <a:ext cx="85725" cy="952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5448" y="6172200"/>
            <a:ext cx="85725" cy="952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295400"/>
            <a:ext cx="285750" cy="28575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325" y="1295400"/>
            <a:ext cx="285750" cy="28575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371600"/>
            <a:ext cx="133350" cy="13335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6050" y="1371600"/>
            <a:ext cx="114300" cy="13335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1771650"/>
            <a:ext cx="104775" cy="12382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150" y="2343150"/>
            <a:ext cx="76200" cy="12382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05 / 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700" y="6086475"/>
            <a:ext cx="189993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E2E ARCHITECTURAL PIPELINE: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725" y="352425"/>
            <a:ext cx="721351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SERVER-SIDE ENGINE &amp; PERSISTENCE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725" y="504825"/>
            <a:ext cx="757418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Backend Framework &amp; Database Architecture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28589" y="6086475"/>
            <a:ext cx="117068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CLIENT / POSTMAN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94546" y="6076950"/>
            <a:ext cx="124063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Segoe UI"/>
              </a:rPr>
              <a:t>EXPRESS GATEWAY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30453" y="6086475"/>
            <a:ext cx="112841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Segoe UI"/>
              </a:rPr>
              <a:t>JWT AUTH GUARD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54142" y="6086475"/>
            <a:ext cx="160526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Segoe UI"/>
              </a:rPr>
              <a:t>CONTROLLER &amp; SERVICES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54678" y="6086475"/>
            <a:ext cx="134362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66534"/>
                </a:solidFill>
                <a:latin typeface="Segoe UI"/>
              </a:rPr>
              <a:t>MONGODB / GEMINI AI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93573" y="6086475"/>
            <a:ext cx="106977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86198F"/>
                </a:solidFill>
                <a:latin typeface="Segoe UI"/>
              </a:rPr>
              <a:t>JSON RESPONSE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5438775"/>
            <a:ext cx="114329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Security Guard: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65091" y="5448300"/>
            <a:ext cx="208857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0284C7"/>
                </a:solidFill>
                <a:latin typeface="Segoe UI"/>
              </a:rPr>
              <a:t>JWT + bcryptjs Salt Rounds: 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0325" y="5438775"/>
            <a:ext cx="150837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Database Connection: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35665" y="5448300"/>
            <a:ext cx="290601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166534"/>
                </a:solidFill>
                <a:latin typeface="Segoe UI"/>
              </a:rPr>
              <a:t>Asynchronous Mongoose via MongoDB URI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7750" y="1343025"/>
            <a:ext cx="356685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Node.js &amp; Express.js (MVC Pattern)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72275" y="1343025"/>
            <a:ext cx="289235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MongoDB &amp; Mongoose ODM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9625" y="1752600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Routing &amp; Middleware Layer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9625" y="1914525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Separated routes (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authRoutes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locationRoutes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weatherRoutes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aiRoutes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) with centralized JWT guard middleware.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9625" y="2428875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Controller Orchestration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9625" y="2590800"/>
            <a:ext cx="49625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Decouples request parsing from business logic across 4 dedicated controller classes with comprehensive HTTP status codes.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9625" y="3095625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AI &amp; Weather Services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9625" y="3257550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284C7"/>
                </a:solidFill>
                <a:latin typeface="Segoe UI"/>
              </a:rPr>
              <a:t>weatherService.js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 handles OpenWeather queries;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aiService.js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 orchestrates Gemini SDK calls with fallback generators.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34150" y="1933575"/>
            <a:ext cx="56578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Fields: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_id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name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email (Unique, RegEx)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password (Hashed)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timestamps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34150" y="2505075"/>
            <a:ext cx="56578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Fields: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_id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user (Ref: User)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city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country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timestamps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34150" y="2895600"/>
            <a:ext cx="56578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065F46"/>
                </a:solidFill>
                <a:latin typeface="Segoe UI"/>
              </a:rPr>
              <a:t>Compound Indexing &amp; Cardinality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34150" y="3048000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1-to-Many mapping (User → Locations). Index </a:t>
            </a:r>
            <a:r>
              <a:rPr sz="900" b="0" i="0" u="none">
                <a:solidFill>
                  <a:srgbClr val="065F46"/>
                </a:solidFill>
                <a:latin typeface="Segoe UI"/>
              </a:rPr>
              <a:t>{ user: 1, city: 1, country: 1 }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 prevents duplicate favorite entries.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34150" y="1762125"/>
            <a:ext cx="1974391" cy="1428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Segoe UI"/>
              </a:rPr>
              <a:t>User Collection Schema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887967" y="1776412"/>
            <a:ext cx="7230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15803D"/>
                </a:solidFill>
                <a:latin typeface="Segoe UI"/>
              </a:rPr>
              <a:t>ENTITY 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34150" y="2333625"/>
            <a:ext cx="2239491" cy="14287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Segoe UI"/>
              </a:rPr>
              <a:t>Location Collection Schema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887967" y="2347912"/>
            <a:ext cx="7230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15803D"/>
                </a:solidFill>
                <a:latin typeface="Segoe UI"/>
              </a:rPr>
              <a:t>ENTITY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4686300"/>
            <a:ext cx="11258550" cy="1819275"/>
          </a:xfrm>
          <a:prstGeom prst="roundRect">
            <a:avLst>
              <a:gd name="adj" fmla="val 628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703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39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667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955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243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531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9819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107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3906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194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482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770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7058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364432"/>
            <a:ext cx="266700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250" y="2364432"/>
            <a:ext cx="26670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850" y="2364432"/>
            <a:ext cx="266700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4876800"/>
            <a:ext cx="147637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4650" y="5353050"/>
            <a:ext cx="266700" cy="2667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562" y="2435869"/>
            <a:ext cx="142875" cy="1238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3687" y="2435869"/>
            <a:ext cx="123825" cy="123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7288" y="2435869"/>
            <a:ext cx="123825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15612" y="5429250"/>
            <a:ext cx="104775" cy="1143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06 / 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725" y="352425"/>
            <a:ext cx="718653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SYSTEM DESIGN METHODOLOGY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725" y="504825"/>
            <a:ext cx="7545864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Designing Approach &amp; Engineering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50" y="2707332"/>
            <a:ext cx="34226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Strict HTTP verb alignment: GET for reads, POST for creations, PUT for full updates, and DELETE for removals across idempotent URI routes.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2250" y="2707332"/>
            <a:ext cx="3422600" cy="557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Uniform JSON payload wrapper: every endpoint returns </a:t>
            </a:r>
            <a:r>
              <a:rPr sz="975" b="0" i="0" u="none">
                <a:solidFill>
                  <a:srgbClr val="7C3AED"/>
                </a:solidFill>
                <a:latin typeface="Segoe UI"/>
              </a:rPr>
              <a:t>{ "success": true/false, "data": {...} }</a:t>
            </a:r>
            <a:r>
              <a:rPr sz="975" b="0" i="0" u="none">
                <a:solidFill>
                  <a:srgbClr val="475569"/>
                </a:solidFill>
                <a:latin typeface="Segoe UI"/>
              </a:rPr>
              <a:t> with strict HTTP error codes.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5850" y="2707332"/>
            <a:ext cx="34226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Centralized express error handling catches unhandled exceptions, database duplicate keys (Code 11000), and invalid JSON tokens gracefully.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750" y="4867275"/>
            <a:ext cx="4154723" cy="142875"/>
          </a:xfrm>
          <a:prstGeom prst="rect">
            <a:avLst/>
          </a:prstGeom>
          <a:noFill/>
        </p:spPr>
        <p:txBody>
          <a:bodyPr wrap="none" lIns="223837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Segoe UI"/>
              </a:rPr>
              <a:t>SYSTEM ENGINEERING LIFECYCLE 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270" y="4872037"/>
            <a:ext cx="223372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Agile Academic Execution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550" y="2416819"/>
            <a:ext cx="222977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RESTful Contract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5150" y="2416819"/>
            <a:ext cx="261536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Standardized Schema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8750" y="2416819"/>
            <a:ext cx="225086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Defensive Error Handling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477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13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Planning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72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Requirement analysis, API endpoint scoping &amp; persona definition.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765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901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Wireframe / 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360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Data modeling, schema design, and routing path definitions.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053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189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UI / Contract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648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Postman mock contract definitions and JSON schema specifications.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341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77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Development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36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Modular MVC coding with Express, Mongoose &amp; Gemini AI SDK.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629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765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Testing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224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Postman automated assertion tests, status validation &amp; edge cases.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053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65F46"/>
                </a:solidFill>
                <a:latin typeface="Segoe UI"/>
              </a:rPr>
              <a:t>Final API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512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047857"/>
                </a:solidFill>
                <a:latin typeface="Segoe UI"/>
              </a:rPr>
              <a:t>Production-ready service verified and documented for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2071687"/>
            <a:ext cx="11258550" cy="2276475"/>
          </a:xfrm>
          <a:prstGeom prst="roundRect">
            <a:avLst>
              <a:gd name="adj" fmla="val 418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66725" y="5438775"/>
            <a:ext cx="11258550" cy="1066800"/>
          </a:xfrm>
          <a:prstGeom prst="roundRect">
            <a:avLst>
              <a:gd name="adj" fmla="val 892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67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099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531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963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75620" y="2581275"/>
            <a:ext cx="1638895" cy="17145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75620" y="2976562"/>
            <a:ext cx="1784449" cy="17145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775620" y="3376612"/>
            <a:ext cx="1145827" cy="171450"/>
          </a:xfrm>
          <a:prstGeom prst="roundRect">
            <a:avLst>
              <a:gd name="adj" fmla="val 22222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75620" y="3776662"/>
            <a:ext cx="1452264" cy="171450"/>
          </a:xfrm>
          <a:prstGeom prst="roundRect">
            <a:avLst>
              <a:gd name="adj" fmla="val 22222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775620" y="4100512"/>
            <a:ext cx="1514326" cy="171450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395662"/>
            <a:ext cx="12382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995612"/>
            <a:ext cx="10477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795712"/>
            <a:ext cx="123825" cy="1238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119562"/>
            <a:ext cx="123825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2600325"/>
            <a:ext cx="10477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995612"/>
            <a:ext cx="104775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395662"/>
            <a:ext cx="123825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795712"/>
            <a:ext cx="12382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119562"/>
            <a:ext cx="123825" cy="123825"/>
          </a:xfrm>
          <a:prstGeom prst="rect">
            <a:avLst/>
          </a:prstGeom>
        </p:spPr>
      </p:pic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76250" y="2081212"/>
          <a:ext cx="11239498" cy="2257425"/>
        </p:xfrm>
        <a:graphic>
          <a:graphicData uri="http://schemas.openxmlformats.org/drawingml/2006/table">
            <a:tbl>
              <a:tblPr/>
              <a:tblGrid>
                <a:gridCol w="3146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9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Tool / Technology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Domain 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Purpose in AI WeatherWise Project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Node.js &amp; Express.js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Runs the non-blocking event-driven backend server, registers routes, and handles HTTP requests.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MongoDB &amp; Mongoose</a:t>
                      </a:r>
                    </a:p>
                  </a:txBody>
                  <a:tcPr marL="2952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Persistent document storage for user credentials and favorites with Mongoose validation rules.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Google Gemini AI SDK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Synthesizes natural language summaries and context-aware lifestyle recommendations (</a:t>
                      </a:r>
                      <a:r>
                        <a:rPr sz="975" b="0" i="0" u="none">
                          <a:solidFill>
                            <a:srgbClr val="7E22CE"/>
                          </a:solidFill>
                          <a:latin typeface="Segoe UI"/>
                        </a:rPr>
                        <a:t>@google/generative-ai</a:t>
                      </a:r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JWT &amp; bcryptjs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One-way salted password hashing and stateless token issuance for protecting private endpoints.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24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Postman &amp; VS Code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Integrated code development, Nodemon live reloading, and automated Postman test scripts.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07 / 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725" y="352425"/>
            <a:ext cx="743452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IMPLEMENTATION TOOLING &amp; 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725" y="504825"/>
            <a:ext cx="780624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Developer Tools &amp; Complete Technology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" y="5581650"/>
            <a:ext cx="330212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FOUR-TIER INTEGRATED TECHNOLOGY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1389" y="5591175"/>
            <a:ext cx="229232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Segoe UI"/>
              </a:rPr>
              <a:t>Cross-Functional Dependency 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3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F766E"/>
                </a:solidFill>
                <a:latin typeface="Segoe UI"/>
              </a:rPr>
              <a:t>1. Client / Consumer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765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66534"/>
                </a:solidFill>
                <a:latin typeface="Segoe UI"/>
              </a:rPr>
              <a:t>2. Backend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197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D4ED8"/>
                </a:solidFill>
                <a:latin typeface="Segoe UI"/>
              </a:rPr>
              <a:t>3. Storage &amp;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29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7E22CE"/>
                </a:solidFill>
                <a:latin typeface="Segoe UI"/>
              </a:rPr>
              <a:t>4. AI &amp; External APIs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1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34E4A"/>
                </a:solidFill>
                <a:latin typeface="Segoe UI"/>
              </a:rPr>
              <a:t>Postman / REST Clients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123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4532D"/>
                </a:solidFill>
                <a:latin typeface="Segoe UI"/>
              </a:rPr>
              <a:t>Express.js + Node Runtime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555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E3A8A"/>
                </a:solidFill>
                <a:latin typeface="Segoe UI"/>
              </a:rPr>
              <a:t>MongoDB + Mongoose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987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581C87"/>
                </a:solidFill>
                <a:latin typeface="Segoe UI"/>
              </a:rPr>
              <a:t>Gemini AI &amp; OpenWeather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51820" y="2600325"/>
            <a:ext cx="158174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Segoe UI"/>
              </a:rPr>
              <a:t>Server Runtime &amp; Framework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51820" y="2995612"/>
            <a:ext cx="172729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D4ED8"/>
                </a:solidFill>
                <a:latin typeface="Segoe UI"/>
              </a:rPr>
              <a:t>Database &amp; Object Data Modeler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51820" y="3395662"/>
            <a:ext cx="108867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E22CE"/>
                </a:solidFill>
                <a:latin typeface="Segoe UI"/>
              </a:rPr>
              <a:t>Generative AI / LLM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51820" y="3795712"/>
            <a:ext cx="139511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B45309"/>
                </a:solidFill>
                <a:latin typeface="Segoe UI"/>
              </a:rPr>
              <a:t>Authentication &amp; Security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51820" y="4119562"/>
            <a:ext cx="145717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C2410C"/>
                </a:solidFill>
                <a:latin typeface="Segoe UI"/>
              </a:rPr>
              <a:t>Testing &amp; IDE Environment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2925" y="5800725"/>
            <a:ext cx="11106150" cy="685800"/>
          </a:xfrm>
          <a:prstGeom prst="roundRect">
            <a:avLst>
              <a:gd name="adj" fmla="val 1388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08778" y="46672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5" y="1095375"/>
            <a:ext cx="5448300" cy="4572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00775" y="1095375"/>
            <a:ext cx="5448300" cy="4572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2950" y="5162550"/>
            <a:ext cx="5048250" cy="304800"/>
          </a:xfrm>
          <a:prstGeom prst="roundRect">
            <a:avLst>
              <a:gd name="adj" fmla="val 18750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0" y="5162550"/>
            <a:ext cx="5048250" cy="304800"/>
          </a:xfrm>
          <a:prstGeom prst="roundRect">
            <a:avLst>
              <a:gd name="adj" fmla="val 1875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0" y="1657350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72550" y="1657350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0" y="2352675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72550" y="2352675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295400"/>
            <a:ext cx="2667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95400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12" y="1366837"/>
            <a:ext cx="10477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2237" y="1366837"/>
            <a:ext cx="12382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171700"/>
            <a:ext cx="123825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594371"/>
            <a:ext cx="123825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3017043"/>
            <a:ext cx="123825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575" y="1771650"/>
            <a:ext cx="95250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7325" y="1771650"/>
            <a:ext cx="152400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575" y="2466975"/>
            <a:ext cx="10477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77325" y="2466975"/>
            <a:ext cx="123825" cy="1238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842128" y="52387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08 / 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1782" y="6076950"/>
            <a:ext cx="6030217" cy="1333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37" b="1" i="0" u="none">
                <a:solidFill>
                  <a:srgbClr val="334155"/>
                </a:solidFill>
                <a:latin typeface="Segoe UI"/>
              </a:rPr>
              <a:t>Presenter Team: SUVATHI D (Lead) • SUMETHA C • SWETHA K • THULASI M • TAMILMOZHI 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2925" y="371475"/>
            <a:ext cx="574216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PROJECT SUMMARY &amp; VISION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925" y="523875"/>
            <a:ext cx="602926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Conclusion &amp; Future Enhancements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050" y="5943600"/>
            <a:ext cx="42432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egoe UI"/>
              </a:rPr>
              <a:t>THANK YOU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050" y="6210300"/>
            <a:ext cx="1804981" cy="144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0" i="0" u="none" dirty="0">
                <a:solidFill>
                  <a:srgbClr val="64748B"/>
                </a:solidFill>
                <a:latin typeface="Segoe UI"/>
              </a:rPr>
              <a:t>Department of Computer Science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1657350"/>
            <a:ext cx="5143500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334155"/>
                </a:solidFill>
                <a:latin typeface="Segoe UI"/>
              </a:rPr>
              <a:t>The </a:t>
            </a:r>
            <a:r>
              <a:rPr sz="1012" b="1" i="0" u="none">
                <a:solidFill>
                  <a:srgbClr val="334155"/>
                </a:solidFill>
                <a:latin typeface="Segoe UI"/>
              </a:rPr>
              <a:t>AI WeatherWise API</a:t>
            </a:r>
            <a:r>
              <a:rPr sz="1012" b="0" i="0" u="none">
                <a:solidFill>
                  <a:srgbClr val="334155"/>
                </a:solidFill>
                <a:latin typeface="Segoe UI"/>
              </a:rPr>
              <a:t> successfully provides a modular, reliable, and intelligent meteorological backend. Key deliverables achieved: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775" y="5248275"/>
            <a:ext cx="60007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Outcome: Academic requirements fulfilled with zero-downtime resilient API fallback.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4625" y="5248275"/>
            <a:ext cx="56673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65F46"/>
                </a:solidFill>
                <a:latin typeface="Segoe UI"/>
              </a:rPr>
              <a:t>Extensible framework designed for seamless plug-and-play client integration.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5850" y="1333500"/>
            <a:ext cx="193676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Project Conclusion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975" y="2157412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Decoupled MVC Architecture: Clean segregation of routes, controllers, services, and models ensures easy maintainability.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2975" y="2580084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Stateful &amp; Secure: Robust JWT authentication with bcrypt hashing protects individual users' favorite cities.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2975" y="3002756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Generative AI Value: Transforms static weather metrics into actionable everyday lifestyle recommendations.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3700" y="1333500"/>
            <a:ext cx="168849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Future Roadmap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5575" y="1762125"/>
            <a:ext cx="2833687" cy="14287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Segoe UI"/>
              </a:rPr>
              <a:t>Mobile / Web 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5575" y="1924050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Develop a responsive React.js / Flutter client app consuming this API.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7325" y="1762125"/>
            <a:ext cx="2833687" cy="14287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Segoe UI"/>
              </a:rPr>
              <a:t>Cloud Deployment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77325" y="1924050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Containerize with Docker and host on AWS / Render with CI/CD pipelines.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05575" y="2457450"/>
            <a:ext cx="2833687" cy="142875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97706"/>
                </a:solidFill>
                <a:latin typeface="Segoe UI"/>
              </a:rPr>
              <a:t>Push Weather Alerts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05575" y="2619375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 dirty="0" err="1">
                <a:solidFill>
                  <a:srgbClr val="475569"/>
                </a:solidFill>
                <a:latin typeface="Segoe UI"/>
              </a:rPr>
              <a:t>WebPush</a:t>
            </a:r>
            <a:r>
              <a:rPr sz="862" b="0" i="0" u="none" dirty="0">
                <a:solidFill>
                  <a:srgbClr val="475569"/>
                </a:solidFill>
                <a:latin typeface="Segoe UI"/>
              </a:rPr>
              <a:t> / SMS alerts for sudden severe storms and heatwaves.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7325" y="2457450"/>
            <a:ext cx="2833687" cy="1428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7C3AED"/>
                </a:solidFill>
                <a:latin typeface="Segoe UI"/>
              </a:rPr>
              <a:t>Advanced 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77325" y="2619375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Historical weather tracking and multi-model AI comparison charts.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1465</Words>
  <Application>Microsoft Office PowerPoint</Application>
  <PresentationFormat>Widescreen</PresentationFormat>
  <Paragraphs>212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Sanjitha S</cp:lastModifiedBy>
  <cp:revision>8</cp:revision>
  <dcterms:created xsi:type="dcterms:W3CDTF">2013-01-27T09:14:16Z</dcterms:created>
  <dcterms:modified xsi:type="dcterms:W3CDTF">2026-09-30T10:03:55Z</dcterms:modified>
  <cp:category/>
</cp:coreProperties>
</file>